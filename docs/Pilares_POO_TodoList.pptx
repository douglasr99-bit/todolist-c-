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5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mover 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62E936D-66D0-48C6-B0F0-86A1560A5E9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Apresentação do trabalho: reescrevemos o back-end da To-Do List, antes em Java no paradigma imperativo, em C# usando orientação a objetos. Vamos mostrar os 4 pilares da POO com exemplos reais do código.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03792B-180B-4AA7-9D8D-02ECCB86C4D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front-end não mudou. A requisição chega no controller, passa pelo serviço e chega ao repositório. O serviço só conhece a interface ITodoRepository; quem decide se os dados ficam em memória ou no banco é a configuração.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9A5D83-A070-4B35-B6B3-64AE734FD4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as mesmas rotas da versão Java, por isso o front-end continuou funcionando sem nenhuma alteração.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4D1595-878D-42FE-8676-737CBD3D148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Pré-requisito: .NET 8 SDK. Na pasta do projeto, o comando dotnet run restaura os pacotes (Microsoft.Data.Sqlite), compila e sobe o servidor na porta 8080. Por padrão os dados ficam no SQLite; com Repositorio=memoria eles ficam só em memória e somem ao reiniciar.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163723-0EE7-4F1A-8B6C-7EDA002733C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Visão geral dos quatro pilares. Nos próximos slides, cada um aparece com um trecho do código que desenvolvemos.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C4FD04-37FF-41B5-A5EB-A50E8282454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Ninguém de fora altera _completed diretamente. Para marcar uma tarefa como concluída, o serviço chama tarefa.AlternarStatus(), e a regra fica dentro do próprio objeto Todo. No Java imperativo, essa lógica estava espalhada no serviço.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4F4715-5DFD-4D16-9649-A2255C8F4AF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interface é um contrato: diz quais operações existem sem dizer como são feitas. O TodoService recebe essa interface pelo construtor (injeção de dependência), então não sabe se está falando com a lista em memória ou com o SQLite.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E313A5-7760-4A2A-AA75-48405D49C99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TodoException é a classe mãe abstrata: não pode ser instanciada, só herdada. As exceções filhas reaproveitam o construtor e a mensagem da classe mãe e só definem o que é próprio delas: o código HTTP.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626841-9347-422E-8373-E00268879A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Primeiro exemplo: a mesma linha _repository.Salvar(todo) executa código diferente conforme o objeto recebido. Segundo exemplo: o tratador global de erros só conhece TodoException; cada exceção filha sobrescreve StatusCode, então a resposta certa sai sem um if para cada tipo.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1FD4F7-AFFF-4464-A0F3-867F587C6F0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48640" y="2103120"/>
            <a:ext cx="8686080" cy="16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</a:t>
            </a: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para </a:t>
            </a: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</a:t>
            </a: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do </a:t>
            </a: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texto </a:t>
            </a: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do </a:t>
            </a:r>
            <a:r>
              <a:rPr b="0" lang="pt-BR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b="0" lang="pt-BR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48640" y="3931920"/>
            <a:ext cx="8686080" cy="91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3760" cy="73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o 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formato do 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texto do 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To-Do List em C# · Paradigma Orientado a Objetos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10944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A8D7EE-EF7E-4174-BFFB-84DDDC79A780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9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3760" cy="82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o 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formato do 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texto do 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título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48640" y="2103120"/>
            <a:ext cx="8686080" cy="164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</a:t>
            </a: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</a:t>
            </a: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se</a:t>
            </a: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nta</a:t>
            </a: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çã</a:t>
            </a: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 </a:t>
            </a: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</a:t>
            </a: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 </a:t>
            </a: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C#</a:t>
            </a:r>
            <a:endParaRPr b="0" lang="pt-BR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48640" y="3931920"/>
            <a:ext cx="86860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cadcfc"/>
                </a:solidFill>
                <a:effectLst/>
                <a:uFillTx/>
                <a:latin typeface="Calibri"/>
              </a:rPr>
              <a:t>To-Do List: C# orientado a objetos.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Capa círculo"/>
          <p:cNvSpPr/>
          <p:nvPr/>
        </p:nvSpPr>
        <p:spPr>
          <a:xfrm>
            <a:off x="9144000" y="2331720"/>
            <a:ext cx="2376720" cy="237672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Capa ícone" descr="preencoded.png"/>
          <p:cNvPicPr/>
          <p:nvPr/>
        </p:nvPicPr>
        <p:blipFill>
          <a:blip r:embed="rId1"/>
          <a:stretch/>
        </p:blipFill>
        <p:spPr>
          <a:xfrm>
            <a:off x="9738360" y="2926080"/>
            <a:ext cx="1188000" cy="118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376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Arq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uitet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ura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do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bac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k-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end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em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C#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Arquitetura subtítulo"/>
          <p:cNvSpPr/>
          <p:nvPr/>
        </p:nvSpPr>
        <p:spPr>
          <a:xfrm>
            <a:off x="548640" y="1188720"/>
            <a:ext cx="1109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Cada camada é uma classe com uma responsabilidade; o front-end conversa com a API pela rota /todos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ront-end caixa"/>
          <p:cNvSpPr/>
          <p:nvPr/>
        </p:nvSpPr>
        <p:spPr>
          <a:xfrm>
            <a:off x="548640" y="2286000"/>
            <a:ext cx="2148120" cy="1553760"/>
          </a:xfrm>
          <a:prstGeom prst="roundRect">
            <a:avLst>
              <a:gd name="adj" fmla="val 7059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Front-end texto"/>
          <p:cNvSpPr/>
          <p:nvPr/>
        </p:nvSpPr>
        <p:spPr>
          <a:xfrm>
            <a:off x="685800" y="2423160"/>
            <a:ext cx="1873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Front-end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wwwroot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HTML · CSS · JS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eta 1"/>
          <p:cNvSpPr/>
          <p:nvPr/>
        </p:nvSpPr>
        <p:spPr>
          <a:xfrm>
            <a:off x="2788920" y="2898720"/>
            <a:ext cx="319320" cy="328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odoController caixa"/>
          <p:cNvSpPr/>
          <p:nvPr/>
        </p:nvSpPr>
        <p:spPr>
          <a:xfrm>
            <a:off x="3200400" y="2286000"/>
            <a:ext cx="2148120" cy="155376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odoController texto"/>
          <p:cNvSpPr/>
          <p:nvPr/>
        </p:nvSpPr>
        <p:spPr>
          <a:xfrm>
            <a:off x="3337560" y="2423160"/>
            <a:ext cx="1873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TodoController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Recebe as requisições HTTP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eta 2"/>
          <p:cNvSpPr/>
          <p:nvPr/>
        </p:nvSpPr>
        <p:spPr>
          <a:xfrm>
            <a:off x="5440680" y="2898720"/>
            <a:ext cx="319320" cy="328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odoService caixa"/>
          <p:cNvSpPr/>
          <p:nvPr/>
        </p:nvSpPr>
        <p:spPr>
          <a:xfrm>
            <a:off x="5852160" y="2286000"/>
            <a:ext cx="2148120" cy="155376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odoService texto"/>
          <p:cNvSpPr/>
          <p:nvPr/>
        </p:nvSpPr>
        <p:spPr>
          <a:xfrm>
            <a:off x="5989320" y="2423160"/>
            <a:ext cx="1873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TodoService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Regras de negócio e validações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eta 3"/>
          <p:cNvSpPr/>
          <p:nvPr/>
        </p:nvSpPr>
        <p:spPr>
          <a:xfrm>
            <a:off x="8092440" y="2898720"/>
            <a:ext cx="319320" cy="328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ITodoRepository caixa"/>
          <p:cNvSpPr/>
          <p:nvPr/>
        </p:nvSpPr>
        <p:spPr>
          <a:xfrm>
            <a:off x="8503920" y="2286000"/>
            <a:ext cx="2148120" cy="155376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ITodoRepository texto"/>
          <p:cNvSpPr/>
          <p:nvPr/>
        </p:nvSpPr>
        <p:spPr>
          <a:xfrm>
            <a:off x="8641080" y="2423160"/>
            <a:ext cx="1873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ITodoRepository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Interface de acesso aos dados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Linha vertical"/>
          <p:cNvSpPr/>
          <p:nvPr/>
        </p:nvSpPr>
        <p:spPr>
          <a:xfrm>
            <a:off x="9578160" y="3840480"/>
            <a:ext cx="360" cy="411480"/>
          </a:xfrm>
          <a:prstGeom prst="line">
            <a:avLst/>
          </a:prstGeom>
          <a:ln w="25400">
            <a:solidFill>
              <a:srgbClr val="00a3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Linha horizontal 1"/>
          <p:cNvSpPr/>
          <p:nvPr/>
        </p:nvSpPr>
        <p:spPr>
          <a:xfrm>
            <a:off x="7253640" y="4251960"/>
            <a:ext cx="2324520" cy="360"/>
          </a:xfrm>
          <a:prstGeom prst="line">
            <a:avLst/>
          </a:prstGeom>
          <a:ln w="25400">
            <a:solidFill>
              <a:srgbClr val="00a3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Linha implementação 1"/>
          <p:cNvSpPr/>
          <p:nvPr/>
        </p:nvSpPr>
        <p:spPr>
          <a:xfrm>
            <a:off x="7253640" y="4251960"/>
            <a:ext cx="360" cy="411480"/>
          </a:xfrm>
          <a:prstGeom prst="line">
            <a:avLst/>
          </a:prstGeom>
          <a:ln w="25400">
            <a:solidFill>
              <a:srgbClr val="00a39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odoRepositoryMemoria caixa"/>
          <p:cNvSpPr/>
          <p:nvPr/>
        </p:nvSpPr>
        <p:spPr>
          <a:xfrm>
            <a:off x="5882400" y="4663440"/>
            <a:ext cx="2742480" cy="105084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9050">
            <a:solidFill>
              <a:srgbClr val="00a3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odoRepositoryMemoria texto"/>
          <p:cNvSpPr/>
          <p:nvPr/>
        </p:nvSpPr>
        <p:spPr>
          <a:xfrm>
            <a:off x="5973840" y="4754880"/>
            <a:ext cx="2559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TodoRepositoryMemoria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Lista em memória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Linha horizontal 2"/>
          <p:cNvSpPr/>
          <p:nvPr/>
        </p:nvSpPr>
        <p:spPr>
          <a:xfrm>
            <a:off x="9578160" y="4251960"/>
            <a:ext cx="693000" cy="360"/>
          </a:xfrm>
          <a:prstGeom prst="line">
            <a:avLst/>
          </a:prstGeom>
          <a:ln w="25400">
            <a:solidFill>
              <a:srgbClr val="00a3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Linha implementação 2"/>
          <p:cNvSpPr/>
          <p:nvPr/>
        </p:nvSpPr>
        <p:spPr>
          <a:xfrm>
            <a:off x="10271160" y="4251960"/>
            <a:ext cx="360" cy="411480"/>
          </a:xfrm>
          <a:prstGeom prst="line">
            <a:avLst/>
          </a:prstGeom>
          <a:ln w="25400">
            <a:solidFill>
              <a:srgbClr val="00a39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odoRepositorySqlite caixa"/>
          <p:cNvSpPr/>
          <p:nvPr/>
        </p:nvSpPr>
        <p:spPr>
          <a:xfrm>
            <a:off x="8899920" y="4663440"/>
            <a:ext cx="2742480" cy="105084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9050">
            <a:solidFill>
              <a:srgbClr val="00a3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odoRepositorySqlite texto"/>
          <p:cNvSpPr/>
          <p:nvPr/>
        </p:nvSpPr>
        <p:spPr>
          <a:xfrm>
            <a:off x="8991360" y="4754880"/>
            <a:ext cx="2559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TodoRepositorySqlite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Banco SQLite (ADO.NET)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Legenda implementações"/>
          <p:cNvSpPr/>
          <p:nvPr/>
        </p:nvSpPr>
        <p:spPr>
          <a:xfrm>
            <a:off x="548640" y="4800600"/>
            <a:ext cx="5119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Implementações da interface, escolhidas pela configuração "Repositorio"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5"/>
          </p:nvPr>
        </p:nvSpPr>
        <p:spPr>
          <a:xfrm>
            <a:off x="110944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7A837B-CF79-44E9-BA38-2073A62188E8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376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Rota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s da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API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usa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das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pelo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fron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t-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end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" name="Tabela de rotas"/>
          <p:cNvGraphicFramePr/>
          <p:nvPr/>
        </p:nvGraphicFramePr>
        <p:xfrm>
          <a:off x="548640" y="1371600"/>
          <a:ext cx="11091240" cy="34290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4206240"/>
                <a:gridCol w="3044880"/>
              </a:tblGrid>
              <a:tr h="6858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Método</a:t>
                      </a:r>
                      <a:endParaRPr b="0" lang="pt-BR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Rota</a:t>
                      </a:r>
                      <a:endParaRPr b="0" lang="pt-BR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 que faz</a:t>
                      </a:r>
                      <a:endParaRPr b="0" lang="pt-BR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Método no serviço</a:t>
                      </a:r>
                      <a:endParaRPr b="0" lang="pt-BR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6858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trike="noStrike" u="none">
                          <a:solidFill>
                            <a:schemeClr val="accent2"/>
                          </a:solidFill>
                          <a:effectLst/>
                          <a:uFillTx/>
                          <a:latin typeface="Calibri"/>
                        </a:rPr>
                        <a:t>GET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/todos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Lista todas as tarefas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chemeClr val="accent6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TodoService.ListarTarefas()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trike="noStrike" u="non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POST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/todos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Cria uma tarefa (400 se o título for vazio)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chemeClr val="accent6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TodoService.CriarTarefa()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trike="noStrike" u="none">
                          <a:solidFill>
                            <a:schemeClr val="accent3"/>
                          </a:solidFill>
                          <a:effectLst/>
                          <a:uFillTx/>
                          <a:latin typeface="Calibri"/>
                        </a:rPr>
                        <a:t>PATCH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/todos/{id}/toggle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Alterna concluída / pendente (404 se não existir)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chemeClr val="accent6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TodoService.AlternarStatus()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trike="noStrike" u="none">
                          <a:solidFill>
                            <a:schemeClr val="accent4"/>
                          </a:solidFill>
                          <a:effectLst/>
                          <a:uFillTx/>
                          <a:latin typeface="Calibri"/>
                        </a:rPr>
                        <a:t>DELETE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/todos/{id}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Remove uma tarefa (404 se não existir)</a:t>
                      </a:r>
                      <a:endParaRPr b="0" lang="pt-BR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chemeClr val="accent6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TodoService.RemoverTarefa()</a:t>
                      </a:r>
                      <a:endParaRPr b="0" lang="pt-B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>
                    <a:lnL w="9360">
                      <a:solidFill>
                        <a:srgbClr val="ddd8ee"/>
                      </a:solidFill>
                      <a:prstDash val="solid"/>
                    </a:lnL>
                    <a:lnR w="9360">
                      <a:solidFill>
                        <a:srgbClr val="ddd8ee"/>
                      </a:solidFill>
                      <a:prstDash val="solid"/>
                    </a:lnR>
                    <a:lnT w="9360">
                      <a:solidFill>
                        <a:srgbClr val="ddd8ee"/>
                      </a:solidFill>
                      <a:prstDash val="solid"/>
                    </a:lnT>
                    <a:lnB w="9360">
                      <a:solidFill>
                        <a:srgbClr val="ddd8ee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43" name="Observação erros"/>
          <p:cNvSpPr/>
          <p:nvPr/>
        </p:nvSpPr>
        <p:spPr>
          <a:xfrm>
            <a:off x="548640" y="5120640"/>
            <a:ext cx="1109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Os erros voltam em JSON, por exemplo { "erro": "tarefa não encontrada" }, com o status HTTP definido pela própria exceção (polimorfismo).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6"/>
          </p:nvPr>
        </p:nvSpPr>
        <p:spPr>
          <a:xfrm>
            <a:off x="110944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572E06-E6F6-428D-A263-2D576C77197E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376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Como rodar a aplicação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asso 1 círculo"/>
          <p:cNvSpPr/>
          <p:nvPr/>
        </p:nvSpPr>
        <p:spPr>
          <a:xfrm>
            <a:off x="548640" y="1508760"/>
            <a:ext cx="639360" cy="6393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asso 1 número"/>
          <p:cNvSpPr/>
          <p:nvPr/>
        </p:nvSpPr>
        <p:spPr>
          <a:xfrm>
            <a:off x="548640" y="150876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asso 1 texto"/>
          <p:cNvSpPr/>
          <p:nvPr/>
        </p:nvSpPr>
        <p:spPr>
          <a:xfrm>
            <a:off x="1371600" y="1325880"/>
            <a:ext cx="301680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Instalar o .NET 8 SDK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Confira com: dotnet --version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asso 1 comando fundo"/>
          <p:cNvSpPr/>
          <p:nvPr/>
        </p:nvSpPr>
        <p:spPr>
          <a:xfrm>
            <a:off x="4526280" y="1527120"/>
            <a:ext cx="3245400" cy="602640"/>
          </a:xfrm>
          <a:prstGeom prst="roundRect">
            <a:avLst>
              <a:gd name="adj" fmla="val 15152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asso 1 comando"/>
          <p:cNvSpPr/>
          <p:nvPr/>
        </p:nvSpPr>
        <p:spPr>
          <a:xfrm>
            <a:off x="4681800" y="1527120"/>
            <a:ext cx="30168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d866"/>
                </a:solidFill>
                <a:effectLst/>
                <a:uFillTx/>
                <a:latin typeface="Courier New"/>
                <a:ea typeface="Courier New"/>
              </a:rPr>
              <a:t>dotnet.microsoft.com/download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asso 2 círculo"/>
          <p:cNvSpPr/>
          <p:nvPr/>
        </p:nvSpPr>
        <p:spPr>
          <a:xfrm>
            <a:off x="548640" y="2670120"/>
            <a:ext cx="639360" cy="6393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asso 2 número"/>
          <p:cNvSpPr/>
          <p:nvPr/>
        </p:nvSpPr>
        <p:spPr>
          <a:xfrm>
            <a:off x="548640" y="267012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asso 2 texto"/>
          <p:cNvSpPr/>
          <p:nvPr/>
        </p:nvSpPr>
        <p:spPr>
          <a:xfrm>
            <a:off x="1371600" y="2487240"/>
            <a:ext cx="301680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Abrir a pasta do projeto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Pasta onde está o arquivo TodoList.csproj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asso 2 comando fundo"/>
          <p:cNvSpPr/>
          <p:nvPr/>
        </p:nvSpPr>
        <p:spPr>
          <a:xfrm>
            <a:off x="4526280" y="2688480"/>
            <a:ext cx="3245400" cy="602640"/>
          </a:xfrm>
          <a:prstGeom prst="roundRect">
            <a:avLst>
              <a:gd name="adj" fmla="val 15152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asso 2 comando"/>
          <p:cNvSpPr/>
          <p:nvPr/>
        </p:nvSpPr>
        <p:spPr>
          <a:xfrm>
            <a:off x="4681800" y="2688480"/>
            <a:ext cx="30168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d866"/>
                </a:solidFill>
                <a:effectLst/>
                <a:uFillTx/>
                <a:latin typeface="Courier New"/>
                <a:ea typeface="Courier New"/>
              </a:rPr>
              <a:t>cd todolist-C#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asso 3 círculo"/>
          <p:cNvSpPr/>
          <p:nvPr/>
        </p:nvSpPr>
        <p:spPr>
          <a:xfrm>
            <a:off x="548640" y="3831480"/>
            <a:ext cx="639360" cy="6393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asso 3 número"/>
          <p:cNvSpPr/>
          <p:nvPr/>
        </p:nvSpPr>
        <p:spPr>
          <a:xfrm>
            <a:off x="548640" y="383148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asso 3 texto"/>
          <p:cNvSpPr/>
          <p:nvPr/>
        </p:nvSpPr>
        <p:spPr>
          <a:xfrm>
            <a:off x="1371600" y="3648600"/>
            <a:ext cx="301680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Executar a aplicação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Baixa as dependências, compila e sobe o servidor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asso 3 comando fundo"/>
          <p:cNvSpPr/>
          <p:nvPr/>
        </p:nvSpPr>
        <p:spPr>
          <a:xfrm>
            <a:off x="4526280" y="3849480"/>
            <a:ext cx="3245400" cy="602640"/>
          </a:xfrm>
          <a:prstGeom prst="roundRect">
            <a:avLst>
              <a:gd name="adj" fmla="val 15152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asso 3 comando"/>
          <p:cNvSpPr/>
          <p:nvPr/>
        </p:nvSpPr>
        <p:spPr>
          <a:xfrm>
            <a:off x="4681800" y="3849480"/>
            <a:ext cx="30168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d866"/>
                </a:solidFill>
                <a:effectLst/>
                <a:uFillTx/>
                <a:latin typeface="Courier New"/>
                <a:ea typeface="Courier New"/>
              </a:rPr>
              <a:t>dotnet run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asso 4 círculo"/>
          <p:cNvSpPr/>
          <p:nvPr/>
        </p:nvSpPr>
        <p:spPr>
          <a:xfrm>
            <a:off x="548640" y="4992480"/>
            <a:ext cx="639360" cy="6393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asso 4 número"/>
          <p:cNvSpPr/>
          <p:nvPr/>
        </p:nvSpPr>
        <p:spPr>
          <a:xfrm>
            <a:off x="548640" y="499248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4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asso 4 texto"/>
          <p:cNvSpPr/>
          <p:nvPr/>
        </p:nvSpPr>
        <p:spPr>
          <a:xfrm>
            <a:off x="1371600" y="4809600"/>
            <a:ext cx="301680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Abrir no navegador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O front-end e a API rodam no mesmo endereço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asso 4 comando fundo"/>
          <p:cNvSpPr/>
          <p:nvPr/>
        </p:nvSpPr>
        <p:spPr>
          <a:xfrm>
            <a:off x="4526280" y="5010840"/>
            <a:ext cx="3245400" cy="602640"/>
          </a:xfrm>
          <a:prstGeom prst="roundRect">
            <a:avLst>
              <a:gd name="adj" fmla="val 15152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asso 4 comando"/>
          <p:cNvSpPr/>
          <p:nvPr/>
        </p:nvSpPr>
        <p:spPr>
          <a:xfrm>
            <a:off x="4681800" y="5010840"/>
            <a:ext cx="30168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d866"/>
                </a:solidFill>
                <a:effectLst/>
                <a:uFillTx/>
                <a:latin typeface="Courier New"/>
                <a:ea typeface="Courier New"/>
              </a:rPr>
              <a:t>http://localhost:8080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Opções cartão"/>
          <p:cNvSpPr/>
          <p:nvPr/>
        </p:nvSpPr>
        <p:spPr>
          <a:xfrm>
            <a:off x="8074080" y="1325880"/>
            <a:ext cx="3568320" cy="4507200"/>
          </a:xfrm>
          <a:prstGeom prst="roundRect">
            <a:avLst>
              <a:gd name="adj" fmla="val 384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Opções título"/>
          <p:cNvSpPr/>
          <p:nvPr/>
        </p:nvSpPr>
        <p:spPr>
          <a:xfrm>
            <a:off x="8348400" y="1554480"/>
            <a:ext cx="301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Opções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Opções texto"/>
          <p:cNvSpPr/>
          <p:nvPr/>
        </p:nvSpPr>
        <p:spPr>
          <a:xfrm>
            <a:off x="8348400" y="2057400"/>
            <a:ext cx="3111120" cy="359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Guardar só em memória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1"/>
                </a:solidFill>
                <a:effectLst/>
                <a:uFillTx/>
                <a:latin typeface="Courier New"/>
                <a:ea typeface="Courier New"/>
              </a:rPr>
              <a:t>Repositorio=memoria dotnet run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ourier New"/>
              </a:rPr>
              <a:t> 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Courier New"/>
              </a:rPr>
              <a:t>Trocar a porta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1"/>
                </a:solidFill>
                <a:effectLst/>
                <a:uFillTx/>
                <a:latin typeface="Courier New"/>
                <a:ea typeface="Courier New"/>
              </a:rPr>
              <a:t>PORT=5000 dotnet run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ourier New"/>
              </a:rPr>
              <a:t> 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Courier New"/>
              </a:rPr>
              <a:t>Banco padrão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accent6"/>
                </a:solidFill>
                <a:effectLst/>
                <a:uFillTx/>
                <a:latin typeface="Calibri"/>
                <a:ea typeface="Courier New"/>
              </a:rPr>
              <a:t>SQLite em data/tododb.db, criado automaticamente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7"/>
          </p:nvPr>
        </p:nvSpPr>
        <p:spPr>
          <a:xfrm>
            <a:off x="110944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3A6EE1-1F54-4C12-91F0-6F406150073E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376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Os quatro pilares da POO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Encapsulamento cartão"/>
          <p:cNvSpPr/>
          <p:nvPr/>
        </p:nvSpPr>
        <p:spPr>
          <a:xfrm>
            <a:off x="548640" y="1554480"/>
            <a:ext cx="2567160" cy="4205520"/>
          </a:xfrm>
          <a:prstGeom prst="roundRect">
            <a:avLst>
              <a:gd name="adj" fmla="val 534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Encapsulamento círculo"/>
          <p:cNvSpPr/>
          <p:nvPr/>
        </p:nvSpPr>
        <p:spPr>
          <a:xfrm>
            <a:off x="1283760" y="2011680"/>
            <a:ext cx="1096560" cy="1096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Encapsulamento ícone" descr="preencoded.png"/>
          <p:cNvPicPr/>
          <p:nvPr/>
        </p:nvPicPr>
        <p:blipFill>
          <a:blip r:embed="rId1"/>
          <a:stretch/>
        </p:blipFill>
        <p:spPr>
          <a:xfrm>
            <a:off x="1558080" y="228600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Encapsulamento número"/>
          <p:cNvSpPr/>
          <p:nvPr/>
        </p:nvSpPr>
        <p:spPr>
          <a:xfrm>
            <a:off x="548640" y="3291840"/>
            <a:ext cx="2567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1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Encapsulamento título"/>
          <p:cNvSpPr/>
          <p:nvPr/>
        </p:nvSpPr>
        <p:spPr>
          <a:xfrm>
            <a:off x="731520" y="3794760"/>
            <a:ext cx="2201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Encapsulamento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Encapsulamento resumo"/>
          <p:cNvSpPr/>
          <p:nvPr/>
        </p:nvSpPr>
        <p:spPr>
          <a:xfrm>
            <a:off x="822960" y="4343400"/>
            <a:ext cx="20185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Protege os dados do objeto e expõe só o necessário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Abstração cartão"/>
          <p:cNvSpPr/>
          <p:nvPr/>
        </p:nvSpPr>
        <p:spPr>
          <a:xfrm>
            <a:off x="3390840" y="1554480"/>
            <a:ext cx="2567160" cy="4205520"/>
          </a:xfrm>
          <a:prstGeom prst="roundRect">
            <a:avLst>
              <a:gd name="adj" fmla="val 534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Abstração círculo"/>
          <p:cNvSpPr/>
          <p:nvPr/>
        </p:nvSpPr>
        <p:spPr>
          <a:xfrm>
            <a:off x="4125960" y="2011680"/>
            <a:ext cx="1096560" cy="10965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Abstração ícone" descr="preencoded.png"/>
          <p:cNvPicPr/>
          <p:nvPr/>
        </p:nvPicPr>
        <p:blipFill>
          <a:blip r:embed="rId2"/>
          <a:stretch/>
        </p:blipFill>
        <p:spPr>
          <a:xfrm>
            <a:off x="4400280" y="228600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Abstração número"/>
          <p:cNvSpPr/>
          <p:nvPr/>
        </p:nvSpPr>
        <p:spPr>
          <a:xfrm>
            <a:off x="3390840" y="3291840"/>
            <a:ext cx="2567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accent2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Abstração título"/>
          <p:cNvSpPr/>
          <p:nvPr/>
        </p:nvSpPr>
        <p:spPr>
          <a:xfrm>
            <a:off x="3573720" y="3794760"/>
            <a:ext cx="2201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Abstração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Abstração resumo"/>
          <p:cNvSpPr/>
          <p:nvPr/>
        </p:nvSpPr>
        <p:spPr>
          <a:xfrm>
            <a:off x="3665160" y="4343400"/>
            <a:ext cx="20185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Mostra o que o objeto faz, esconde como ele faz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Herança cartão"/>
          <p:cNvSpPr/>
          <p:nvPr/>
        </p:nvSpPr>
        <p:spPr>
          <a:xfrm>
            <a:off x="6233040" y="1554480"/>
            <a:ext cx="2567160" cy="4205520"/>
          </a:xfrm>
          <a:prstGeom prst="roundRect">
            <a:avLst>
              <a:gd name="adj" fmla="val 534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Herança círculo"/>
          <p:cNvSpPr/>
          <p:nvPr/>
        </p:nvSpPr>
        <p:spPr>
          <a:xfrm>
            <a:off x="6968160" y="2011680"/>
            <a:ext cx="1096560" cy="109656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Herança ícone" descr="preencoded.png"/>
          <p:cNvPicPr/>
          <p:nvPr/>
        </p:nvPicPr>
        <p:blipFill>
          <a:blip r:embed="rId3"/>
          <a:stretch/>
        </p:blipFill>
        <p:spPr>
          <a:xfrm>
            <a:off x="7242480" y="228600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Herança número"/>
          <p:cNvSpPr/>
          <p:nvPr/>
        </p:nvSpPr>
        <p:spPr>
          <a:xfrm>
            <a:off x="6233040" y="3291840"/>
            <a:ext cx="2567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accent3"/>
                </a:solidFill>
                <a:effectLst/>
                <a:uFillTx/>
                <a:latin typeface="Calibri"/>
              </a:rPr>
              <a:t>3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Herança título"/>
          <p:cNvSpPr/>
          <p:nvPr/>
        </p:nvSpPr>
        <p:spPr>
          <a:xfrm>
            <a:off x="6415920" y="3794760"/>
            <a:ext cx="2201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Herança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Herança resumo"/>
          <p:cNvSpPr/>
          <p:nvPr/>
        </p:nvSpPr>
        <p:spPr>
          <a:xfrm>
            <a:off x="6507360" y="4343400"/>
            <a:ext cx="20185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Classes filhas reaproveitam o código da classe mãe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olimorfismo cartão"/>
          <p:cNvSpPr/>
          <p:nvPr/>
        </p:nvSpPr>
        <p:spPr>
          <a:xfrm>
            <a:off x="9075240" y="1554480"/>
            <a:ext cx="2567160" cy="4205520"/>
          </a:xfrm>
          <a:prstGeom prst="roundRect">
            <a:avLst>
              <a:gd name="adj" fmla="val 534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olimorfismo círculo"/>
          <p:cNvSpPr/>
          <p:nvPr/>
        </p:nvSpPr>
        <p:spPr>
          <a:xfrm>
            <a:off x="9810360" y="2011680"/>
            <a:ext cx="1096560" cy="1096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Polimorfismo ícone" descr="preencoded.png"/>
          <p:cNvPicPr/>
          <p:nvPr/>
        </p:nvPicPr>
        <p:blipFill>
          <a:blip r:embed="rId4"/>
          <a:stretch/>
        </p:blipFill>
        <p:spPr>
          <a:xfrm>
            <a:off x="10084680" y="228600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olimorfismo número"/>
          <p:cNvSpPr/>
          <p:nvPr/>
        </p:nvSpPr>
        <p:spPr>
          <a:xfrm>
            <a:off x="9075240" y="3291840"/>
            <a:ext cx="2567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accent4"/>
                </a:solidFill>
                <a:effectLst/>
                <a:uFillTx/>
                <a:latin typeface="Calibri"/>
              </a:rPr>
              <a:t>4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olimorfismo título"/>
          <p:cNvSpPr/>
          <p:nvPr/>
        </p:nvSpPr>
        <p:spPr>
          <a:xfrm>
            <a:off x="9258120" y="3794760"/>
            <a:ext cx="2201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Polimorfismo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olimorfismo resumo"/>
          <p:cNvSpPr/>
          <p:nvPr/>
        </p:nvSpPr>
        <p:spPr>
          <a:xfrm>
            <a:off x="9349560" y="4343400"/>
            <a:ext cx="20185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Mesma chamada, comportamentos diferentes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8"/>
          </p:nvPr>
        </p:nvSpPr>
        <p:spPr>
          <a:xfrm>
            <a:off x="110944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DABDCD-7D2A-4AB3-AF0E-18217E4A42A7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376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Enc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aps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ula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men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to: o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obje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to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prot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ege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seu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s 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dad</a:t>
            </a: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Encapsulamento círculo"/>
          <p:cNvSpPr/>
          <p:nvPr/>
        </p:nvSpPr>
        <p:spPr>
          <a:xfrm>
            <a:off x="548640" y="1371600"/>
            <a:ext cx="730800" cy="73080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Encapsulamento ícone" descr="preencoded.png"/>
          <p:cNvPicPr/>
          <p:nvPr/>
        </p:nvPicPr>
        <p:blipFill>
          <a:blip r:embed="rId1"/>
          <a:stretch/>
        </p:blipFill>
        <p:spPr>
          <a:xfrm>
            <a:off x="731520" y="15544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Encapsulamento nome"/>
          <p:cNvSpPr/>
          <p:nvPr/>
        </p:nvSpPr>
        <p:spPr>
          <a:xfrm>
            <a:off x="1463040" y="137160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PILAR 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Encapsulamento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Encapsulamento definição"/>
          <p:cNvSpPr/>
          <p:nvPr/>
        </p:nvSpPr>
        <p:spPr>
          <a:xfrm>
            <a:off x="548640" y="2286000"/>
            <a:ext cx="44798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Os dados ficam privados dentro da classe e só são acessados por propriedades e métodos controlados.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Encapsulamento rótulo"/>
          <p:cNvSpPr/>
          <p:nvPr/>
        </p:nvSpPr>
        <p:spPr>
          <a:xfrm>
            <a:off x="548640" y="3520440"/>
            <a:ext cx="4479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No projeto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Encapsulamento itens"/>
          <p:cNvSpPr/>
          <p:nvPr/>
        </p:nvSpPr>
        <p:spPr>
          <a:xfrm>
            <a:off x="548640" y="3886200"/>
            <a:ext cx="44798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Atributos privados: _title, _completed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Acesso pelas propriedades Title e Completed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própria classe sabe validar o título e alternar o status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Encapsulamento fundo"/>
          <p:cNvSpPr/>
          <p:nvPr/>
        </p:nvSpPr>
        <p:spPr>
          <a:xfrm>
            <a:off x="5394960" y="1371600"/>
            <a:ext cx="6247440" cy="4891320"/>
          </a:xfrm>
          <a:prstGeom prst="roundRect">
            <a:avLst>
              <a:gd name="adj" fmla="val 2243"/>
            </a:avLst>
          </a:prstGeom>
          <a:solidFill>
            <a:schemeClr val="accent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Encapsulamento botão 1"/>
          <p:cNvSpPr/>
          <p:nvPr/>
        </p:nvSpPr>
        <p:spPr>
          <a:xfrm>
            <a:off x="5623560" y="1554480"/>
            <a:ext cx="118080" cy="118080"/>
          </a:xfrm>
          <a:prstGeom prst="ellipse">
            <a:avLst/>
          </a:prstGeom>
          <a:solidFill>
            <a:srgbClr val="ff5f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Encapsulamento botão 2"/>
          <p:cNvSpPr/>
          <p:nvPr/>
        </p:nvSpPr>
        <p:spPr>
          <a:xfrm>
            <a:off x="5824800" y="1554480"/>
            <a:ext cx="118080" cy="118080"/>
          </a:xfrm>
          <a:prstGeom prst="ellipse">
            <a:avLst/>
          </a:prstGeom>
          <a:solidFill>
            <a:srgbClr val="feb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Encapsulamento botão 3"/>
          <p:cNvSpPr/>
          <p:nvPr/>
        </p:nvSpPr>
        <p:spPr>
          <a:xfrm>
            <a:off x="6026040" y="1554480"/>
            <a:ext cx="118080" cy="118080"/>
          </a:xfrm>
          <a:prstGeom prst="ellipse">
            <a:avLst/>
          </a:prstGeom>
          <a:solidFill>
            <a:srgbClr val="28c8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Encapsulamento arquivo"/>
          <p:cNvSpPr/>
          <p:nvPr/>
        </p:nvSpPr>
        <p:spPr>
          <a:xfrm>
            <a:off x="6309360" y="1463040"/>
            <a:ext cx="515016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d9db5"/>
                </a:solidFill>
                <a:effectLst/>
                <a:uFillTx/>
                <a:latin typeface="Courier New"/>
                <a:ea typeface="Courier New"/>
              </a:rPr>
              <a:t>Models/Todo.cs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Encapsulamento código"/>
          <p:cNvSpPr/>
          <p:nvPr/>
        </p:nvSpPr>
        <p:spPr>
          <a:xfrm>
            <a:off x="5669280" y="1874520"/>
            <a:ext cx="5790240" cy="42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private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? _title;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private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bool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_completed;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bool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Completed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get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=&gt; _completed;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set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=&gt; _completed = value;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bool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dcdcaa"/>
                </a:solidFill>
                <a:effectLst/>
                <a:uFillTx/>
                <a:latin typeface="Courier New"/>
                <a:ea typeface="Courier New"/>
              </a:rPr>
              <a:t>PossuiTituloValido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!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b="0" lang="en-US" sz="1300" strike="noStrike" u="none">
                <a:solidFill>
                  <a:srgbClr val="dcdcaa"/>
                </a:solidFill>
                <a:effectLst/>
                <a:uFillTx/>
                <a:latin typeface="Courier New"/>
                <a:ea typeface="Courier New"/>
              </a:rPr>
              <a:t>IsNullOrWhiteSpace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(_title);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dcdcaa"/>
                </a:solidFill>
                <a:effectLst/>
                <a:uFillTx/>
                <a:latin typeface="Courier New"/>
                <a:ea typeface="Courier New"/>
              </a:rPr>
              <a:t>AlternarStatus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_completed = !_completed;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9"/>
          </p:nvPr>
        </p:nvSpPr>
        <p:spPr>
          <a:xfrm>
            <a:off x="110944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9B533D-E33A-4F9F-8238-8385D6DC7816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376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Abstração: o serviço sabe o quê, não o como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Abstração círculo"/>
          <p:cNvSpPr/>
          <p:nvPr/>
        </p:nvSpPr>
        <p:spPr>
          <a:xfrm>
            <a:off x="548640" y="1371600"/>
            <a:ext cx="730800" cy="7308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" name="Abstração ícone" descr="preencoded.png"/>
          <p:cNvPicPr/>
          <p:nvPr/>
        </p:nvPicPr>
        <p:blipFill>
          <a:blip r:embed="rId1"/>
          <a:stretch/>
        </p:blipFill>
        <p:spPr>
          <a:xfrm>
            <a:off x="731520" y="15544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Abstração nome"/>
          <p:cNvSpPr/>
          <p:nvPr/>
        </p:nvSpPr>
        <p:spPr>
          <a:xfrm>
            <a:off x="1463040" y="137160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00" strike="noStrike" u="none">
                <a:solidFill>
                  <a:schemeClr val="accent2"/>
                </a:solidFill>
                <a:effectLst/>
                <a:uFillTx/>
                <a:latin typeface="Calibri"/>
              </a:rPr>
              <a:t>PILAR 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Abstração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Abstração definição"/>
          <p:cNvSpPr/>
          <p:nvPr/>
        </p:nvSpPr>
        <p:spPr>
          <a:xfrm>
            <a:off x="548640" y="2286000"/>
            <a:ext cx="44798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A interface define as operações essenciais e esconde os detalhes de onde e como os dados são guardados.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Abstração rótulo"/>
          <p:cNvSpPr/>
          <p:nvPr/>
        </p:nvSpPr>
        <p:spPr>
          <a:xfrm>
            <a:off x="548640" y="3520440"/>
            <a:ext cx="4479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accent2"/>
                </a:solidFill>
                <a:effectLst/>
                <a:uFillTx/>
                <a:latin typeface="Calibri"/>
              </a:rPr>
              <a:t>No projeto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Abstração itens"/>
          <p:cNvSpPr/>
          <p:nvPr/>
        </p:nvSpPr>
        <p:spPr>
          <a:xfrm>
            <a:off x="548640" y="3886200"/>
            <a:ext cx="44798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ITodoRepository lista o que um repositório faz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TodoService depende só da interface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Memória ou banco: o serviço não precisa saber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Abstração fundo"/>
          <p:cNvSpPr/>
          <p:nvPr/>
        </p:nvSpPr>
        <p:spPr>
          <a:xfrm>
            <a:off x="5394960" y="1371600"/>
            <a:ext cx="6247440" cy="4891320"/>
          </a:xfrm>
          <a:prstGeom prst="roundRect">
            <a:avLst>
              <a:gd name="adj" fmla="val 2243"/>
            </a:avLst>
          </a:prstGeom>
          <a:solidFill>
            <a:schemeClr val="accent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Abstração botão 1"/>
          <p:cNvSpPr/>
          <p:nvPr/>
        </p:nvSpPr>
        <p:spPr>
          <a:xfrm>
            <a:off x="5623560" y="1554480"/>
            <a:ext cx="118080" cy="118080"/>
          </a:xfrm>
          <a:prstGeom prst="ellipse">
            <a:avLst/>
          </a:prstGeom>
          <a:solidFill>
            <a:srgbClr val="ff5f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Abstração botão 2"/>
          <p:cNvSpPr/>
          <p:nvPr/>
        </p:nvSpPr>
        <p:spPr>
          <a:xfrm>
            <a:off x="5824800" y="1554480"/>
            <a:ext cx="118080" cy="118080"/>
          </a:xfrm>
          <a:prstGeom prst="ellipse">
            <a:avLst/>
          </a:prstGeom>
          <a:solidFill>
            <a:srgbClr val="feb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Abstração botão 3"/>
          <p:cNvSpPr/>
          <p:nvPr/>
        </p:nvSpPr>
        <p:spPr>
          <a:xfrm>
            <a:off x="6026040" y="1554480"/>
            <a:ext cx="118080" cy="118080"/>
          </a:xfrm>
          <a:prstGeom prst="ellipse">
            <a:avLst/>
          </a:prstGeom>
          <a:solidFill>
            <a:srgbClr val="28c8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Abstração arquivo"/>
          <p:cNvSpPr/>
          <p:nvPr/>
        </p:nvSpPr>
        <p:spPr>
          <a:xfrm>
            <a:off x="6309360" y="1463040"/>
            <a:ext cx="515016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d9db5"/>
                </a:solidFill>
                <a:effectLst/>
                <a:uFillTx/>
                <a:latin typeface="Courier New"/>
                <a:ea typeface="Courier New"/>
              </a:rPr>
              <a:t>Repositories/ITodoRepository.cs · Services/TodoService.cs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Abstração código"/>
          <p:cNvSpPr/>
          <p:nvPr/>
        </p:nvSpPr>
        <p:spPr>
          <a:xfrm>
            <a:off x="5669280" y="1874520"/>
            <a:ext cx="5790240" cy="42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interface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ITodoRepository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dcdcaa"/>
                </a:solidFill>
                <a:effectLst/>
                <a:uFillTx/>
                <a:latin typeface="Courier New"/>
                <a:ea typeface="Courier New"/>
              </a:rPr>
              <a:t>Salvar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todo);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List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&lt;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&gt; </a:t>
            </a:r>
            <a:r>
              <a:rPr b="0" lang="en-US" sz="1300" strike="noStrike" u="none">
                <a:solidFill>
                  <a:srgbClr val="dcdcaa"/>
                </a:solidFill>
                <a:effectLst/>
                <a:uFillTx/>
                <a:latin typeface="Courier New"/>
                <a:ea typeface="Courier New"/>
              </a:rPr>
              <a:t>ListarTodos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dcdcaa"/>
                </a:solidFill>
                <a:effectLst/>
                <a:uFillTx/>
                <a:latin typeface="Courier New"/>
                <a:ea typeface="Courier New"/>
              </a:rPr>
              <a:t>AtualizarStatus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id,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bool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completed);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dcdcaa"/>
                </a:solidFill>
                <a:effectLst/>
                <a:uFillTx/>
                <a:latin typeface="Courier New"/>
                <a:ea typeface="Courier New"/>
              </a:rPr>
              <a:t>Remover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id);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? </a:t>
            </a:r>
            <a:r>
              <a:rPr b="0" lang="en-US" sz="1300" strike="noStrike" u="none">
                <a:solidFill>
                  <a:srgbClr val="dcdcaa"/>
                </a:solidFill>
                <a:effectLst/>
                <a:uFillTx/>
                <a:latin typeface="Courier New"/>
                <a:ea typeface="Courier New"/>
              </a:rPr>
              <a:t>BuscarPorId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id);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TodoService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// depende da abstração, não da implementação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private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readonly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ITodoRepository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_repository;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TodoService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ITodoRepository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repository)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_repository = repository;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10"/>
          </p:nvPr>
        </p:nvSpPr>
        <p:spPr>
          <a:xfrm>
            <a:off x="110944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8B7D0E-AF4B-4834-8DDC-9CF5CD3C02A6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376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Herança: exceções reaproveitam a classe mãe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Herança círculo"/>
          <p:cNvSpPr/>
          <p:nvPr/>
        </p:nvSpPr>
        <p:spPr>
          <a:xfrm>
            <a:off x="548640" y="1371600"/>
            <a:ext cx="730800" cy="7308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Herança ícone" descr="preencoded.png"/>
          <p:cNvPicPr/>
          <p:nvPr/>
        </p:nvPicPr>
        <p:blipFill>
          <a:blip r:embed="rId1"/>
          <a:stretch/>
        </p:blipFill>
        <p:spPr>
          <a:xfrm>
            <a:off x="731520" y="15544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Herança nome"/>
          <p:cNvSpPr/>
          <p:nvPr/>
        </p:nvSpPr>
        <p:spPr>
          <a:xfrm>
            <a:off x="1463040" y="137160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00" strike="noStrike" u="none">
                <a:solidFill>
                  <a:schemeClr val="accent3"/>
                </a:solidFill>
                <a:effectLst/>
                <a:uFillTx/>
                <a:latin typeface="Calibri"/>
              </a:rPr>
              <a:t>PILAR 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Herança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Herança definição"/>
          <p:cNvSpPr/>
          <p:nvPr/>
        </p:nvSpPr>
        <p:spPr>
          <a:xfrm>
            <a:off x="548640" y="2286000"/>
            <a:ext cx="44798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Uma classe filha herda atributos e comportamentos da classe mãe e acrescenta o que é específico dela.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Herança rótulo"/>
          <p:cNvSpPr/>
          <p:nvPr/>
        </p:nvSpPr>
        <p:spPr>
          <a:xfrm>
            <a:off x="548640" y="3520440"/>
            <a:ext cx="4479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accent3"/>
                </a:solidFill>
                <a:effectLst/>
                <a:uFillTx/>
                <a:latin typeface="Calibri"/>
              </a:rPr>
              <a:t>No projeto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Herança itens"/>
          <p:cNvSpPr/>
          <p:nvPr/>
        </p:nvSpPr>
        <p:spPr>
          <a:xfrm>
            <a:off x="548640" y="3886200"/>
            <a:ext cx="44798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TodoException é abstrata e herda de Exception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TituloInvalidoException e TarefaNaoEncontradaException herdam de TodoException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construtor repassa a mensagem para a classe mãe com base(...)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Herança fundo"/>
          <p:cNvSpPr/>
          <p:nvPr/>
        </p:nvSpPr>
        <p:spPr>
          <a:xfrm>
            <a:off x="5394960" y="1371600"/>
            <a:ext cx="6247440" cy="4891320"/>
          </a:xfrm>
          <a:prstGeom prst="roundRect">
            <a:avLst>
              <a:gd name="adj" fmla="val 2243"/>
            </a:avLst>
          </a:prstGeom>
          <a:solidFill>
            <a:schemeClr val="accent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Herança botão 1"/>
          <p:cNvSpPr/>
          <p:nvPr/>
        </p:nvSpPr>
        <p:spPr>
          <a:xfrm>
            <a:off x="5623560" y="1554480"/>
            <a:ext cx="118080" cy="118080"/>
          </a:xfrm>
          <a:prstGeom prst="ellipse">
            <a:avLst/>
          </a:prstGeom>
          <a:solidFill>
            <a:srgbClr val="ff5f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Herança botão 2"/>
          <p:cNvSpPr/>
          <p:nvPr/>
        </p:nvSpPr>
        <p:spPr>
          <a:xfrm>
            <a:off x="5824800" y="1554480"/>
            <a:ext cx="118080" cy="118080"/>
          </a:xfrm>
          <a:prstGeom prst="ellipse">
            <a:avLst/>
          </a:prstGeom>
          <a:solidFill>
            <a:srgbClr val="feb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Herança botão 3"/>
          <p:cNvSpPr/>
          <p:nvPr/>
        </p:nvSpPr>
        <p:spPr>
          <a:xfrm>
            <a:off x="6026040" y="1554480"/>
            <a:ext cx="118080" cy="118080"/>
          </a:xfrm>
          <a:prstGeom prst="ellipse">
            <a:avLst/>
          </a:prstGeom>
          <a:solidFill>
            <a:srgbClr val="28c8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Herança arquivo"/>
          <p:cNvSpPr/>
          <p:nvPr/>
        </p:nvSpPr>
        <p:spPr>
          <a:xfrm>
            <a:off x="6309360" y="1463040"/>
            <a:ext cx="515016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d9db5"/>
                </a:solidFill>
                <a:effectLst/>
                <a:uFillTx/>
                <a:latin typeface="Courier New"/>
                <a:ea typeface="Courier New"/>
              </a:rPr>
              <a:t>Services/Exceptions/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Herança código"/>
          <p:cNvSpPr/>
          <p:nvPr/>
        </p:nvSpPr>
        <p:spPr>
          <a:xfrm>
            <a:off x="5669280" y="1874520"/>
            <a:ext cx="5790240" cy="42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abstract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TodoException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: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Exception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protected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TodoException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mensagem)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: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base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(mensagem) { 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abstract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StatusCode {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get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; 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TituloInvalidoException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: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TodoException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TituloInvalidoException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mensagem)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: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base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(mensagem) { 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override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StatusCode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=&gt;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StatusCodes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.Status400BadRequest;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TarefaNaoEncontradaException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: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TodoException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// ... mesmo padrão, StatusCode =&gt; 404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Num" idx="11"/>
          </p:nvPr>
        </p:nvSpPr>
        <p:spPr>
          <a:xfrm>
            <a:off x="110944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95C2B3-ABD7-4488-A285-17BE608807B8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376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Polimorfismo: mesma chamada, outro resultado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olimorfismo círculo"/>
          <p:cNvSpPr/>
          <p:nvPr/>
        </p:nvSpPr>
        <p:spPr>
          <a:xfrm>
            <a:off x="548640" y="1371600"/>
            <a:ext cx="730800" cy="73080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Polimorfismo ícone" descr="preencoded.png"/>
          <p:cNvPicPr/>
          <p:nvPr/>
        </p:nvPicPr>
        <p:blipFill>
          <a:blip r:embed="rId1"/>
          <a:stretch/>
        </p:blipFill>
        <p:spPr>
          <a:xfrm>
            <a:off x="731520" y="15544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Polimorfismo nome"/>
          <p:cNvSpPr/>
          <p:nvPr/>
        </p:nvSpPr>
        <p:spPr>
          <a:xfrm>
            <a:off x="1463040" y="137160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00" strike="noStrike" u="none">
                <a:solidFill>
                  <a:schemeClr val="accent4"/>
                </a:solidFill>
                <a:effectLst/>
                <a:uFillTx/>
                <a:latin typeface="Calibri"/>
              </a:rPr>
              <a:t>PILAR 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Polimorfismo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olimorfismo definição"/>
          <p:cNvSpPr/>
          <p:nvPr/>
        </p:nvSpPr>
        <p:spPr>
          <a:xfrm>
            <a:off x="548640" y="2286000"/>
            <a:ext cx="44798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O mesmo código funciona com objetos de tipos diferentes, e cada um responde do seu jeito.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olimorfismo rótulo"/>
          <p:cNvSpPr/>
          <p:nvPr/>
        </p:nvSpPr>
        <p:spPr>
          <a:xfrm>
            <a:off x="548640" y="3520440"/>
            <a:ext cx="4479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accent4"/>
                </a:solidFill>
                <a:effectLst/>
                <a:uFillTx/>
                <a:latin typeface="Calibri"/>
              </a:rPr>
              <a:t>No projeto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olimorfismo itens"/>
          <p:cNvSpPr/>
          <p:nvPr/>
        </p:nvSpPr>
        <p:spPr>
          <a:xfrm>
            <a:off x="548640" y="3886200"/>
            <a:ext cx="44798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_repository.Salvar(todo) grava em memória ou no SQLite, conforme a implementação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033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excecao.StatusCode devolve 400 ou 404 sem nenhum if por tipo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olimorfismo fundo"/>
          <p:cNvSpPr/>
          <p:nvPr/>
        </p:nvSpPr>
        <p:spPr>
          <a:xfrm>
            <a:off x="5394960" y="1371600"/>
            <a:ext cx="6247440" cy="4891320"/>
          </a:xfrm>
          <a:prstGeom prst="roundRect">
            <a:avLst>
              <a:gd name="adj" fmla="val 2243"/>
            </a:avLst>
          </a:prstGeom>
          <a:solidFill>
            <a:schemeClr val="accent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Polimorfismo botão 1"/>
          <p:cNvSpPr/>
          <p:nvPr/>
        </p:nvSpPr>
        <p:spPr>
          <a:xfrm>
            <a:off x="5623560" y="1554480"/>
            <a:ext cx="118080" cy="118080"/>
          </a:xfrm>
          <a:prstGeom prst="ellipse">
            <a:avLst/>
          </a:prstGeom>
          <a:solidFill>
            <a:srgbClr val="ff5f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Polimorfismo botão 2"/>
          <p:cNvSpPr/>
          <p:nvPr/>
        </p:nvSpPr>
        <p:spPr>
          <a:xfrm>
            <a:off x="5824800" y="1554480"/>
            <a:ext cx="118080" cy="118080"/>
          </a:xfrm>
          <a:prstGeom prst="ellipse">
            <a:avLst/>
          </a:prstGeom>
          <a:solidFill>
            <a:srgbClr val="feb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olimorfismo botão 3"/>
          <p:cNvSpPr/>
          <p:nvPr/>
        </p:nvSpPr>
        <p:spPr>
          <a:xfrm>
            <a:off x="6026040" y="1554480"/>
            <a:ext cx="118080" cy="118080"/>
          </a:xfrm>
          <a:prstGeom prst="ellipse">
            <a:avLst/>
          </a:prstGeom>
          <a:solidFill>
            <a:srgbClr val="28c8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olimorfismo arquivo"/>
          <p:cNvSpPr/>
          <p:nvPr/>
        </p:nvSpPr>
        <p:spPr>
          <a:xfrm>
            <a:off x="6309360" y="1463040"/>
            <a:ext cx="515016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d9db5"/>
                </a:solidFill>
                <a:effectLst/>
                <a:uFillTx/>
                <a:latin typeface="Courier New"/>
                <a:ea typeface="Courier New"/>
              </a:rPr>
              <a:t>Services/TodoService.cs · Config/GlobalExceptionHandler.cs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olimorfismo código"/>
          <p:cNvSpPr/>
          <p:nvPr/>
        </p:nvSpPr>
        <p:spPr>
          <a:xfrm>
            <a:off x="5669280" y="1874520"/>
            <a:ext cx="5790240" cy="42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// Memória: adiciona na lista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// SQLite:  executa INSERT no banco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_repository.</a:t>
            </a:r>
            <a:r>
              <a:rPr b="0" lang="en-US" sz="1300" strike="noStrike" u="none">
                <a:solidFill>
                  <a:srgbClr val="dcdcaa"/>
                </a:solidFill>
                <a:effectLst/>
                <a:uFillTx/>
                <a:latin typeface="Courier New"/>
                <a:ea typeface="Courier New"/>
              </a:rPr>
              <a:t>Salvar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(todo);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dcdcaa"/>
                </a:solidFill>
                <a:effectLst/>
                <a:uFillTx/>
                <a:latin typeface="Courier New"/>
                <a:ea typeface="Courier New"/>
              </a:rPr>
              <a:t>OnException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ExceptionContext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context)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(context.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Exception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is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TodoException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excecao)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context.Result =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ObjectResult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(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b="0" lang="en-US" sz="1300" strike="noStrike" u="non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Dictionary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&lt;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b="0" lang="en-US" sz="1300" strike="noStrike" u="none">
                <a:solidFill>
                  <a:srgbClr val="569cd6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&gt;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        { [</a:t>
            </a:r>
            <a:r>
              <a:rPr b="0" lang="en-US" sz="1300" strike="noStrike" u="non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"erro"</a:t>
            </a: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] = excecao.Message })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{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    StatusCode = excecao.StatusCode </a:t>
            </a:r>
            <a:r>
              <a:rPr b="0" lang="en-US" sz="1300" strike="noStrike" u="non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// 400 ou 404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};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    context.ExceptionHandled = true;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4d4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ldNum" idx="12"/>
          </p:nvPr>
        </p:nvSpPr>
        <p:spPr>
          <a:xfrm>
            <a:off x="110944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98D813-E78E-474E-BD00-D166ABA427B5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odoList POO">
  <a:themeElements>
    <a:clrScheme name="TodoList POO">
      <a:dk1>
        <a:srgbClr val="1a1033"/>
      </a:dk1>
      <a:lt1>
        <a:srgbClr val="ffffff"/>
      </a:lt1>
      <a:dk2>
        <a:srgbClr val="2d1b69"/>
      </a:dk2>
      <a:lt2>
        <a:srgbClr val="f3f0fa"/>
      </a:lt2>
      <a:accent1>
        <a:srgbClr val="512bd4"/>
      </a:accent1>
      <a:accent2>
        <a:srgbClr val="00a396"/>
      </a:accent2>
      <a:accent3>
        <a:srgbClr val="e08a00"/>
      </a:accent3>
      <a:accent4>
        <a:srgbClr val="d6456b"/>
      </a:accent4>
      <a:accent5>
        <a:srgbClr val="1e1e2e"/>
      </a:accent5>
      <a:accent6>
        <a:srgbClr val="6b6880"/>
      </a:accent6>
      <a:hlink>
        <a:srgbClr val="512bd4"/>
      </a:hlink>
      <a:folHlink>
        <a:srgbClr val="6b6880"/>
      </a:folHlink>
    </a:clrScheme>
    <a:fontScheme name="TodoList POO">
      <a:majorFont>
        <a:latin typeface="Arial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LibreOffice/25.2.6.2$Linux_X86_64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2026-10-05T18:05:09Z</dcterms:created>
  <dc:creator>Equipe To-Do List</dc:creator>
  <dc:description/>
  <dc:language>pt-BR</dc:language>
  <cp:lastModifiedBy/>
  <dcterms:modified xsi:type="dcterms:W3CDTF">2026-10-05T18:27:26Z</dcterms:modified>
  <cp:revision>4</cp:revision>
  <dc:subject>PptxGenJS Presentation</dc:subject>
  <dc:title>Pilares da POO na prática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